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F9B34-3698-0442-9B3C-74030E2E47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776437-CBCB-D9E5-B15C-0B91C7225E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61E01-036C-9C82-7C53-90E0D9821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A6726-5519-490F-A39F-46959A2FC24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A9973-2DB2-A074-1339-9B1BD056C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9E8CD-D240-59B1-30B6-2A6E928D6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4729-95BC-43F0-A7B7-B52C13002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093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A7F4E-5B7C-6FCE-BB9F-F39814A35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1B74-2827-68C5-A000-C2A2627F3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BF397-95A8-EB92-1C6F-6475D6B7C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A6726-5519-490F-A39F-46959A2FC24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A9084-0840-7E20-CF08-02C6398F3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7AE89-FB1A-40EE-024C-D128EA8A8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4729-95BC-43F0-A7B7-B52C13002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825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6D109-C5DC-0EE7-A4ED-5854178FC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2B609-498C-2CDD-2AE8-207979AD5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D7E8D-3369-335E-4C6F-7DC2641C5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A6726-5519-490F-A39F-46959A2FC24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A3C26-217E-D004-0F8F-BA432436D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D02F5-1DB1-0F08-510F-B389C79E6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4729-95BC-43F0-A7B7-B52C13002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9059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9CE8C-7F85-0E45-26C5-DB4B1FAB0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C18A3-162C-AF41-44CC-FE8AC3A140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A6D727-4CB2-1514-7049-7E50432340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B5E6D4-CC38-7849-E56E-134B8C54E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A6726-5519-490F-A39F-46959A2FC24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EE47E7-DCBD-5951-506B-2354A9D07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1DB264-541A-E6B5-E977-7ADF86C64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4729-95BC-43F0-A7B7-B52C13002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119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3FEBD-C662-1EDF-2ADC-760AA81FE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E404D4-567E-A0AF-AF99-D975029B8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7B3444-504B-2093-21DD-D030C6873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6A3F71-E392-F978-715B-6309B21176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99514C-D933-8D6D-1413-74393DAD96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FB39BD-CC58-5108-401B-3DB59B286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A6726-5519-490F-A39F-46959A2FC24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1C9BB7-73B9-65D1-AD51-F2717E320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5684FE-4977-746F-EAB4-50FA14252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4729-95BC-43F0-A7B7-B52C13002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30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D371A-42AA-6021-7F33-848598AB4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7A9F15-21D0-7C05-DD99-1BE05BD25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A6726-5519-490F-A39F-46959A2FC24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D8B832-7A72-D5B7-D6F9-B719612FE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21BDE1-54BE-DA09-F239-436CF148B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4729-95BC-43F0-A7B7-B52C13002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079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96B03C-934C-0D12-9FCF-0570E314C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A6726-5519-490F-A39F-46959A2FC24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D4819F-03FE-7519-E16D-9AE352158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A225E7-1F1B-DA8D-F8AC-DDFCC0C2F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4729-95BC-43F0-A7B7-B52C13002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7468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23724-325D-FDDE-49E6-8DC184E7F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AAC50-F997-B727-A3A1-C769478AA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93135D-B146-B681-C780-120066473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8EFFF7-F43D-155A-F2DB-1F2A80622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A6726-5519-490F-A39F-46959A2FC24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C3E8F3-A680-0547-0C4A-A1DC4625A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354963-A809-F063-49CB-8D1BAEF2B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4729-95BC-43F0-A7B7-B52C13002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3757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F11F6-F9D2-7356-2826-1DF63A7A6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485254-E87E-C9BF-6B15-F6FC1C2CDD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C069D2-2351-07BD-B512-3B5CB362A9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E57363-8C68-69A8-3DE1-7F733C407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A6726-5519-490F-A39F-46959A2FC24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488043-CF8C-87C0-BF70-82A5E3E57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44767F-536D-9527-2D46-A62766357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4729-95BC-43F0-A7B7-B52C13002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663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2129C-CE95-BC76-9D04-262137B7A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17E097-A275-01B7-8FDF-3989327D43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DD608-E7F4-9E7B-97E2-839545BC8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A6726-5519-490F-A39F-46959A2FC24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D21D4-8144-390D-25DF-9A7EEA6C6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234D7-4056-EAF7-E99F-8D44AB9AF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4729-95BC-43F0-A7B7-B52C13002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244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D0EA23-B4AA-8FC5-AC60-EE498D1BE5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BA18DE-CA00-DE73-436B-7CAEC1ED3B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C0F0F-FCEF-14D0-A87A-5C76C79B8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A6726-5519-490F-A39F-46959A2FC24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A5146-64A1-1393-0DDF-05FB63297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26A10-A3EC-2BA9-5F36-C8D7B1B92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4729-95BC-43F0-A7B7-B52C13002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527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19D086-222A-01F2-1E84-28E19D59A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6ADC91-B51E-80A3-2E76-FBA1311FF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79C6A-A397-7059-D32A-2940887501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5A6726-5519-490F-A39F-46959A2FC24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E9A1E-C20C-D7A6-530C-004B7EBA4A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4BE95-E19B-4661-00A2-FCF2B22DD7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6F4729-95BC-43F0-A7B7-B52C13002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5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ijsrd.com/Article.php?manuscript=IJSRDV12I80026&amp;utm_source=chatgpt.com" TargetMode="External"/><Relationship Id="rId3" Type="http://schemas.openxmlformats.org/officeDocument/2006/relationships/image" Target="../media/image3.jpg"/><Relationship Id="rId7" Type="http://schemas.openxmlformats.org/officeDocument/2006/relationships/hyperlink" Target="https://onlinelibrary.wiley.com/doi/10.1111/1468-5973.12499?utm_source=chatgpt.com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pubmed.ncbi.nlm.nih.gov/39499918/?utm_source=chatgpt.com" TargetMode="External"/><Relationship Id="rId5" Type="http://schemas.openxmlformats.org/officeDocument/2006/relationships/hyperlink" Target="https://www.researchgate.net/publication/377669904_Empowering_Personal_Safety_Through_Mobile_Apps?utm_source=chatgpt.com" TargetMode="External"/><Relationship Id="rId4" Type="http://schemas.openxmlformats.org/officeDocument/2006/relationships/hyperlink" Target="https://gnanaganga.alliance.edu.in/entities/publication/abd64449-ba1d-408f-aa04-364025f0e97d?utm_source=chatgpt.com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B8E526-3B28-6487-BA34-A929D8E68A95}"/>
              </a:ext>
            </a:extLst>
          </p:cNvPr>
          <p:cNvSpPr txBox="1"/>
          <p:nvPr/>
        </p:nvSpPr>
        <p:spPr>
          <a:xfrm>
            <a:off x="1582993" y="2192593"/>
            <a:ext cx="902601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Panic and Real-Time Location Sharing App for Personal Safety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027C2B-2F30-A6A3-1FC7-0F5D4BA88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48" y="461702"/>
            <a:ext cx="11041626" cy="1174275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E2EB51CF-13A9-D6EF-BD7D-BBAA428491E8}"/>
              </a:ext>
            </a:extLst>
          </p:cNvPr>
          <p:cNvSpPr/>
          <p:nvPr/>
        </p:nvSpPr>
        <p:spPr>
          <a:xfrm>
            <a:off x="0" y="-1"/>
            <a:ext cx="12192000" cy="196645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0">
            <a:extLst>
              <a:ext uri="{FF2B5EF4-FFF2-40B4-BE49-F238E27FC236}">
                <a16:creationId xmlns:a16="http://schemas.microsoft.com/office/drawing/2014/main" id="{5CFE26D0-E528-470E-9652-84737FF6D92D}"/>
              </a:ext>
            </a:extLst>
          </p:cNvPr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8767F74A-81FF-05F9-751C-E42DB67D9CFC}"/>
              </a:ext>
            </a:extLst>
          </p:cNvPr>
          <p:cNvSpPr/>
          <p:nvPr/>
        </p:nvSpPr>
        <p:spPr>
          <a:xfrm>
            <a:off x="0" y="196644"/>
            <a:ext cx="108155" cy="6496764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E91C0B-BC54-ADC1-3A0B-292C383F5030}"/>
              </a:ext>
            </a:extLst>
          </p:cNvPr>
          <p:cNvSpPr txBox="1"/>
          <p:nvPr/>
        </p:nvSpPr>
        <p:spPr>
          <a:xfrm>
            <a:off x="346587" y="4294498"/>
            <a:ext cx="2622755" cy="1001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COURSE FACULTY:</a:t>
            </a:r>
          </a:p>
          <a:p>
            <a:pPr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DR 3B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ABISHA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D381F2-054F-418D-F66E-F7F5E76DE27E}"/>
              </a:ext>
            </a:extLst>
          </p:cNvPr>
          <p:cNvSpPr txBox="1"/>
          <p:nvPr/>
        </p:nvSpPr>
        <p:spPr>
          <a:xfrm>
            <a:off x="8613981" y="4472238"/>
            <a:ext cx="45219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MUTHUPRIYA R (192421002)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SVETHA (192321155)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ASWATHI K (192421079)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5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10;p1">
            <a:extLst>
              <a:ext uri="{FF2B5EF4-FFF2-40B4-BE49-F238E27FC236}">
                <a16:creationId xmlns:a16="http://schemas.microsoft.com/office/drawing/2014/main" id="{1EC8FFCA-7C11-5ECA-4809-0278E282E51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8820" y="338686"/>
            <a:ext cx="1026185" cy="873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11;p1">
            <a:extLst>
              <a:ext uri="{FF2B5EF4-FFF2-40B4-BE49-F238E27FC236}">
                <a16:creationId xmlns:a16="http://schemas.microsoft.com/office/drawing/2014/main" id="{81B3EFF0-8CEC-F26D-E936-83DB579E5D0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42387" y="338685"/>
            <a:ext cx="1149613" cy="87363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hape 0">
            <a:extLst>
              <a:ext uri="{FF2B5EF4-FFF2-40B4-BE49-F238E27FC236}">
                <a16:creationId xmlns:a16="http://schemas.microsoft.com/office/drawing/2014/main" id="{B1DFC2BF-9388-BD34-5795-D0D6A05908CE}"/>
              </a:ext>
            </a:extLst>
          </p:cNvPr>
          <p:cNvSpPr/>
          <p:nvPr/>
        </p:nvSpPr>
        <p:spPr>
          <a:xfrm>
            <a:off x="0" y="-1"/>
            <a:ext cx="12192000" cy="196645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4F9E25DB-0A30-9624-BF8D-8C4BE8D2AE69}"/>
              </a:ext>
            </a:extLst>
          </p:cNvPr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AE40994B-E7AC-CDFA-46D0-59A4863B543F}"/>
              </a:ext>
            </a:extLst>
          </p:cNvPr>
          <p:cNvSpPr/>
          <p:nvPr/>
        </p:nvSpPr>
        <p:spPr>
          <a:xfrm>
            <a:off x="0" y="196644"/>
            <a:ext cx="108155" cy="6496764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4E11FE58-7365-63D9-1E9E-31D6C7D9CB61}"/>
              </a:ext>
            </a:extLst>
          </p:cNvPr>
          <p:cNvSpPr/>
          <p:nvPr/>
        </p:nvSpPr>
        <p:spPr>
          <a:xfrm>
            <a:off x="670559" y="1427547"/>
            <a:ext cx="11019995" cy="45719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6EAA6622-01F4-C11F-5DD5-FA81B9CC398A}"/>
              </a:ext>
            </a:extLst>
          </p:cNvPr>
          <p:cNvSpPr/>
          <p:nvPr/>
        </p:nvSpPr>
        <p:spPr>
          <a:xfrm>
            <a:off x="2420095" y="2263689"/>
            <a:ext cx="7058202" cy="4061895"/>
          </a:xfrm>
          <a:prstGeom prst="rect">
            <a:avLst/>
          </a:prstGeom>
          <a:solidFill>
            <a:srgbClr val="E8E8E8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F06442DA-7FF3-6C63-3ACC-6D61A51299F0}"/>
              </a:ext>
            </a:extLst>
          </p:cNvPr>
          <p:cNvSpPr/>
          <p:nvPr/>
        </p:nvSpPr>
        <p:spPr>
          <a:xfrm>
            <a:off x="2195012" y="2263689"/>
            <a:ext cx="225083" cy="4061895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5762E7-3AD9-BC68-27AE-B53EA7C0481C}"/>
              </a:ext>
            </a:extLst>
          </p:cNvPr>
          <p:cNvSpPr txBox="1"/>
          <p:nvPr/>
        </p:nvSpPr>
        <p:spPr>
          <a:xfrm>
            <a:off x="4308987" y="564468"/>
            <a:ext cx="61009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D89A0F-FBA2-40C4-C31D-8F5837B4F6F9}"/>
              </a:ext>
            </a:extLst>
          </p:cNvPr>
          <p:cNvSpPr txBox="1"/>
          <p:nvPr/>
        </p:nvSpPr>
        <p:spPr>
          <a:xfrm>
            <a:off x="3045542" y="2864783"/>
            <a:ext cx="6100916" cy="2812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safety is a growing concern. 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response is essential during emergencies. 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 automatically detects emergencies. 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Shares live location with authorized guardians.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safety through continuous monitoring and instant alerts</a:t>
            </a:r>
            <a:r>
              <a:rPr lang="en-IN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52164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AEE92-E80C-78E9-9A3E-A37FDADF0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10;p1">
            <a:extLst>
              <a:ext uri="{FF2B5EF4-FFF2-40B4-BE49-F238E27FC236}">
                <a16:creationId xmlns:a16="http://schemas.microsoft.com/office/drawing/2014/main" id="{6AF52068-804E-B5E9-1F7E-04901225DFE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8820" y="338686"/>
            <a:ext cx="1026185" cy="873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11;p1">
            <a:extLst>
              <a:ext uri="{FF2B5EF4-FFF2-40B4-BE49-F238E27FC236}">
                <a16:creationId xmlns:a16="http://schemas.microsoft.com/office/drawing/2014/main" id="{4B4B26B1-2397-A30D-869C-0708AB71655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42387" y="338685"/>
            <a:ext cx="1149613" cy="87363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hape 0">
            <a:extLst>
              <a:ext uri="{FF2B5EF4-FFF2-40B4-BE49-F238E27FC236}">
                <a16:creationId xmlns:a16="http://schemas.microsoft.com/office/drawing/2014/main" id="{3D6A78F9-5E5B-3E06-655A-7FFA0CA4E914}"/>
              </a:ext>
            </a:extLst>
          </p:cNvPr>
          <p:cNvSpPr/>
          <p:nvPr/>
        </p:nvSpPr>
        <p:spPr>
          <a:xfrm>
            <a:off x="0" y="-1"/>
            <a:ext cx="12192000" cy="196645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5610B292-E99A-4504-0371-9F6F4E9573AD}"/>
              </a:ext>
            </a:extLst>
          </p:cNvPr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308B9C50-0E85-9BBF-8347-963EAEEB4E30}"/>
              </a:ext>
            </a:extLst>
          </p:cNvPr>
          <p:cNvSpPr/>
          <p:nvPr/>
        </p:nvSpPr>
        <p:spPr>
          <a:xfrm>
            <a:off x="0" y="196644"/>
            <a:ext cx="108155" cy="6496764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97D178D2-9A63-DB55-71F6-E90334C0FA0D}"/>
              </a:ext>
            </a:extLst>
          </p:cNvPr>
          <p:cNvSpPr/>
          <p:nvPr/>
        </p:nvSpPr>
        <p:spPr>
          <a:xfrm>
            <a:off x="670559" y="1427547"/>
            <a:ext cx="11019995" cy="45719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8B7E8914-A3A0-CBEA-4983-31CDCCB63438}"/>
              </a:ext>
            </a:extLst>
          </p:cNvPr>
          <p:cNvSpPr/>
          <p:nvPr/>
        </p:nvSpPr>
        <p:spPr>
          <a:xfrm>
            <a:off x="2420095" y="2263689"/>
            <a:ext cx="7058202" cy="4061895"/>
          </a:xfrm>
          <a:prstGeom prst="rect">
            <a:avLst/>
          </a:prstGeom>
          <a:solidFill>
            <a:srgbClr val="E8E8E8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A8F5CE90-6040-A663-1067-949535EFA3E8}"/>
              </a:ext>
            </a:extLst>
          </p:cNvPr>
          <p:cNvSpPr/>
          <p:nvPr/>
        </p:nvSpPr>
        <p:spPr>
          <a:xfrm>
            <a:off x="2195012" y="2263689"/>
            <a:ext cx="225083" cy="4061895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F3D281-67C8-87BD-8E89-913DAE13CF65}"/>
              </a:ext>
            </a:extLst>
          </p:cNvPr>
          <p:cNvSpPr txBox="1"/>
          <p:nvPr/>
        </p:nvSpPr>
        <p:spPr>
          <a:xfrm>
            <a:off x="4043516" y="612155"/>
            <a:ext cx="610091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OBJECTIVES 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DFB08A-2BB9-A5B0-558A-1DB91B0CBEBA}"/>
              </a:ext>
            </a:extLst>
          </p:cNvPr>
          <p:cNvSpPr txBox="1"/>
          <p:nvPr/>
        </p:nvSpPr>
        <p:spPr>
          <a:xfrm>
            <a:off x="2971800" y="2991513"/>
            <a:ext cx="6100916" cy="2351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emergencies automatically. 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 real-time location with guardians.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 instant alerts. 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monitor user safety. 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centralized safety management.</a:t>
            </a:r>
          </a:p>
        </p:txBody>
      </p:sp>
    </p:spTree>
    <p:extLst>
      <p:ext uri="{BB962C8B-B14F-4D97-AF65-F5344CB8AC3E}">
        <p14:creationId xmlns:p14="http://schemas.microsoft.com/office/powerpoint/2010/main" val="446023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06BB5-DE52-87A3-9382-2BB48A5BF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10;p1">
            <a:extLst>
              <a:ext uri="{FF2B5EF4-FFF2-40B4-BE49-F238E27FC236}">
                <a16:creationId xmlns:a16="http://schemas.microsoft.com/office/drawing/2014/main" id="{8F0E95B0-1739-C0E7-B2DA-794B3298615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8820" y="338686"/>
            <a:ext cx="1026185" cy="873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11;p1">
            <a:extLst>
              <a:ext uri="{FF2B5EF4-FFF2-40B4-BE49-F238E27FC236}">
                <a16:creationId xmlns:a16="http://schemas.microsoft.com/office/drawing/2014/main" id="{9589F878-6601-FD30-E441-49C6A392DB8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42387" y="338685"/>
            <a:ext cx="1149613" cy="87363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hape 0">
            <a:extLst>
              <a:ext uri="{FF2B5EF4-FFF2-40B4-BE49-F238E27FC236}">
                <a16:creationId xmlns:a16="http://schemas.microsoft.com/office/drawing/2014/main" id="{16997F58-626D-5B3E-E4D9-07F53BE060C2}"/>
              </a:ext>
            </a:extLst>
          </p:cNvPr>
          <p:cNvSpPr/>
          <p:nvPr/>
        </p:nvSpPr>
        <p:spPr>
          <a:xfrm>
            <a:off x="0" y="-1"/>
            <a:ext cx="12192000" cy="196645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220FD8DA-5E23-DB48-E259-8300145598CC}"/>
              </a:ext>
            </a:extLst>
          </p:cNvPr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E229B95E-B81D-32E1-B0D9-5FE7E1E1CEAD}"/>
              </a:ext>
            </a:extLst>
          </p:cNvPr>
          <p:cNvSpPr/>
          <p:nvPr/>
        </p:nvSpPr>
        <p:spPr>
          <a:xfrm>
            <a:off x="0" y="196644"/>
            <a:ext cx="108155" cy="6496764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7F7AD572-7812-B77A-F778-608D15509643}"/>
              </a:ext>
            </a:extLst>
          </p:cNvPr>
          <p:cNvSpPr/>
          <p:nvPr/>
        </p:nvSpPr>
        <p:spPr>
          <a:xfrm>
            <a:off x="670559" y="1427547"/>
            <a:ext cx="11019995" cy="45719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E4B078-E58B-3802-2470-6AA2281C3115}"/>
              </a:ext>
            </a:extLst>
          </p:cNvPr>
          <p:cNvSpPr txBox="1"/>
          <p:nvPr/>
        </p:nvSpPr>
        <p:spPr>
          <a:xfrm>
            <a:off x="3584621" y="532416"/>
            <a:ext cx="61009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" panose="02020603050405020304" pitchFamily="18" charset="0"/>
                <a:cs typeface="Times" panose="02020603050405020304" pitchFamily="18" charset="0"/>
              </a:rPr>
              <a:t>LITERATURE REVIEW 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2A53D04-7688-6A57-1788-8C39A3F757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244926"/>
              </p:ext>
            </p:extLst>
          </p:nvPr>
        </p:nvGraphicFramePr>
        <p:xfrm>
          <a:off x="1465005" y="1688494"/>
          <a:ext cx="8731047" cy="4864067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15481">
                  <a:extLst>
                    <a:ext uri="{9D8B030D-6E8A-4147-A177-3AD203B41FA5}">
                      <a16:colId xmlns:a16="http://schemas.microsoft.com/office/drawing/2014/main" val="2993007449"/>
                    </a:ext>
                  </a:extLst>
                </a:gridCol>
                <a:gridCol w="1418452">
                  <a:extLst>
                    <a:ext uri="{9D8B030D-6E8A-4147-A177-3AD203B41FA5}">
                      <a16:colId xmlns:a16="http://schemas.microsoft.com/office/drawing/2014/main" val="4206503370"/>
                    </a:ext>
                  </a:extLst>
                </a:gridCol>
                <a:gridCol w="1638793">
                  <a:extLst>
                    <a:ext uri="{9D8B030D-6E8A-4147-A177-3AD203B41FA5}">
                      <a16:colId xmlns:a16="http://schemas.microsoft.com/office/drawing/2014/main" val="3262910878"/>
                    </a:ext>
                  </a:extLst>
                </a:gridCol>
                <a:gridCol w="1647973">
                  <a:extLst>
                    <a:ext uri="{9D8B030D-6E8A-4147-A177-3AD203B41FA5}">
                      <a16:colId xmlns:a16="http://schemas.microsoft.com/office/drawing/2014/main" val="3800895111"/>
                    </a:ext>
                  </a:extLst>
                </a:gridCol>
                <a:gridCol w="1455174">
                  <a:extLst>
                    <a:ext uri="{9D8B030D-6E8A-4147-A177-3AD203B41FA5}">
                      <a16:colId xmlns:a16="http://schemas.microsoft.com/office/drawing/2014/main" val="2158812535"/>
                    </a:ext>
                  </a:extLst>
                </a:gridCol>
                <a:gridCol w="1455174">
                  <a:extLst>
                    <a:ext uri="{9D8B030D-6E8A-4147-A177-3AD203B41FA5}">
                      <a16:colId xmlns:a16="http://schemas.microsoft.com/office/drawing/2014/main" val="3761534053"/>
                    </a:ext>
                  </a:extLst>
                </a:gridCol>
              </a:tblGrid>
              <a:tr h="4301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 &amp; Year</a:t>
                      </a: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Features</a:t>
                      </a: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 / Proposed Improvement</a:t>
                      </a: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861" marR="30861" marT="15430" marB="15430" anchor="ctr"/>
                </a:tc>
                <a:extLst>
                  <a:ext uri="{0D108BD9-81ED-4DB2-BD59-A6C34878D82A}">
                    <a16:rowId xmlns:a16="http://schemas.microsoft.com/office/drawing/2014/main" val="2640266435"/>
                  </a:ext>
                </a:extLst>
              </a:tr>
              <a:tr h="8330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Gowda D.V. et al. (2023)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of a Real-Time Location Monitoring App with Emergency Alert Features for Android Devices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GPS tracking, emergency alerts, Android-based monitoring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Relies mainly on user-triggered alerts; limited intelligent monitoring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 automatic emergency detection and continuous background monitoring. (</a:t>
                      </a: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 tooltip="Development of A Real-Time Location Monitoring App with Emergency Alert Features for Android Devices"/>
                        </a:rPr>
                        <a:t>Gnanaganga</a:t>
                      </a: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30861" marR="30861" marT="15430" marB="15430" anchor="ctr"/>
                </a:tc>
                <a:extLst>
                  <a:ext uri="{0D108BD9-81ED-4DB2-BD59-A6C34878D82A}">
                    <a16:rowId xmlns:a16="http://schemas.microsoft.com/office/drawing/2014/main" val="2297707010"/>
                  </a:ext>
                </a:extLst>
              </a:tr>
              <a:tr h="9673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Banerjee S., Maiti P., Biswas S. (2024)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Empowering Personal Safety Through Mobile Apps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location sharing, safety networks, emergency communication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Privacy concerns and lack of intelligent event detection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 privacy while integrating automated emergency detection and guardian monitoring. (</a:t>
                      </a: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 tooltip="(PDF) Empowering Personal Safety Through Mobile Apps"/>
                        </a:rPr>
                        <a:t>ResearchGate</a:t>
                      </a: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30861" marR="30861" marT="15430" marB="15430" anchor="ctr"/>
                </a:tc>
                <a:extLst>
                  <a:ext uri="{0D108BD9-81ED-4DB2-BD59-A6C34878D82A}">
                    <a16:rowId xmlns:a16="http://schemas.microsoft.com/office/drawing/2014/main" val="2674655686"/>
                  </a:ext>
                </a:extLst>
              </a:tr>
              <a:tr h="8330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Bowen-Forbes C. et al. (2024)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 Apps for the Personal Safety of At-Risk Children and Youth: Scoping Review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Reviews personal safety apps, GPS tracking, emergency notifications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apps provide limited continuous monitoring and lack integrated safety management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 an intelligent platform with automatic alerts and centralized guardian dashboard. (</a:t>
                      </a: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6" tooltip="Mobile Apps for the Personal Safety of At-Risk Children and Youth: Scoping Review - PubMed"/>
                        </a:rPr>
                        <a:t>PubMed</a:t>
                      </a: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30861" marR="30861" marT="15430" marB="15430" anchor="ctr"/>
                </a:tc>
                <a:extLst>
                  <a:ext uri="{0D108BD9-81ED-4DB2-BD59-A6C34878D82A}">
                    <a16:rowId xmlns:a16="http://schemas.microsoft.com/office/drawing/2014/main" val="3847343075"/>
                  </a:ext>
                </a:extLst>
              </a:tr>
              <a:tr h="9673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Fiona Mowbray et al. (2024)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Systematic Review of Mobile Alerting During Emergencies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Studies effectiveness of mobile emergency alerts and user response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only on alert dissemination rather than personal monitoring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 emergency alerting with real-time tracking and automated emergency recognition. (</a:t>
                      </a: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7" tooltip="A systematic review of the use of mobile alerting to inform the public about emergencies and the factors that influence the public response - Mowbray - 2024 - Journal of Contingencies and Crisis Management - Wiley Online Library"/>
                        </a:rPr>
                        <a:t>Wiley Online Library</a:t>
                      </a: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30861" marR="30861" marT="15430" marB="15430" anchor="ctr"/>
                </a:tc>
                <a:extLst>
                  <a:ext uri="{0D108BD9-81ED-4DB2-BD59-A6C34878D82A}">
                    <a16:rowId xmlns:a16="http://schemas.microsoft.com/office/drawing/2014/main" val="2263904581"/>
                  </a:ext>
                </a:extLst>
              </a:tr>
              <a:tr h="8330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Nerkar H. et al. (2024)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on Safe Route Recommendation System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Safe navigation, AI-based route recommendation, live location sharing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Primarily focuses on route safety instead of complete personal safety management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 safe routing with emergency monitoring, guardian dashboard, and intelligent alerts. (</a:t>
                      </a: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8" tooltip="Review on Safe Route Recommendation System"/>
                        </a:rPr>
                        <a:t>IJSRD</a:t>
                      </a: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30861" marR="30861" marT="15430" marB="15430" anchor="ctr"/>
                </a:tc>
                <a:extLst>
                  <a:ext uri="{0D108BD9-81ED-4DB2-BD59-A6C34878D82A}">
                    <a16:rowId xmlns:a16="http://schemas.microsoft.com/office/drawing/2014/main" val="1203047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3172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47BF7-F0E7-3C91-56C2-C35741040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10;p1">
            <a:extLst>
              <a:ext uri="{FF2B5EF4-FFF2-40B4-BE49-F238E27FC236}">
                <a16:creationId xmlns:a16="http://schemas.microsoft.com/office/drawing/2014/main" id="{B4746C44-0519-C513-68E4-C33ED2F5A11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8820" y="338686"/>
            <a:ext cx="1026185" cy="873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11;p1">
            <a:extLst>
              <a:ext uri="{FF2B5EF4-FFF2-40B4-BE49-F238E27FC236}">
                <a16:creationId xmlns:a16="http://schemas.microsoft.com/office/drawing/2014/main" id="{BA583604-B200-0BB0-BA48-9F68207A2F7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42387" y="338685"/>
            <a:ext cx="1149613" cy="87363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hape 0">
            <a:extLst>
              <a:ext uri="{FF2B5EF4-FFF2-40B4-BE49-F238E27FC236}">
                <a16:creationId xmlns:a16="http://schemas.microsoft.com/office/drawing/2014/main" id="{23B3B897-0DA1-0876-9F8F-7D782DF00A3C}"/>
              </a:ext>
            </a:extLst>
          </p:cNvPr>
          <p:cNvSpPr/>
          <p:nvPr/>
        </p:nvSpPr>
        <p:spPr>
          <a:xfrm>
            <a:off x="0" y="-1"/>
            <a:ext cx="12192000" cy="196645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146211C3-3379-D784-42E7-CD2DC97362C9}"/>
              </a:ext>
            </a:extLst>
          </p:cNvPr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4E7727EE-DA16-1C4E-A103-8A848C230963}"/>
              </a:ext>
            </a:extLst>
          </p:cNvPr>
          <p:cNvSpPr/>
          <p:nvPr/>
        </p:nvSpPr>
        <p:spPr>
          <a:xfrm>
            <a:off x="0" y="196644"/>
            <a:ext cx="108155" cy="6496764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FCF5397A-B3C5-76C0-9660-FC3EE5816F00}"/>
              </a:ext>
            </a:extLst>
          </p:cNvPr>
          <p:cNvSpPr/>
          <p:nvPr/>
        </p:nvSpPr>
        <p:spPr>
          <a:xfrm>
            <a:off x="670559" y="1427547"/>
            <a:ext cx="11019995" cy="45719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EC5A08AB-F932-B94D-9EF1-972D3298EA9D}"/>
              </a:ext>
            </a:extLst>
          </p:cNvPr>
          <p:cNvSpPr/>
          <p:nvPr/>
        </p:nvSpPr>
        <p:spPr>
          <a:xfrm>
            <a:off x="2420095" y="2263689"/>
            <a:ext cx="6100916" cy="4061895"/>
          </a:xfrm>
          <a:prstGeom prst="rect">
            <a:avLst/>
          </a:prstGeom>
          <a:solidFill>
            <a:srgbClr val="E8E8E8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A91B2183-366E-F1EF-F74F-3EFC32EDD423}"/>
              </a:ext>
            </a:extLst>
          </p:cNvPr>
          <p:cNvSpPr/>
          <p:nvPr/>
        </p:nvSpPr>
        <p:spPr>
          <a:xfrm>
            <a:off x="2195012" y="2263689"/>
            <a:ext cx="225083" cy="4061895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E70891-B22A-4C40-47C0-5D7FA23BF4B0}"/>
              </a:ext>
            </a:extLst>
          </p:cNvPr>
          <p:cNvSpPr txBox="1"/>
          <p:nvPr/>
        </p:nvSpPr>
        <p:spPr>
          <a:xfrm>
            <a:off x="4033684" y="637124"/>
            <a:ext cx="61009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BD4341-2B05-0566-0348-62F9C9F1E35D}"/>
              </a:ext>
            </a:extLst>
          </p:cNvPr>
          <p:cNvSpPr txBox="1"/>
          <p:nvPr/>
        </p:nvSpPr>
        <p:spPr>
          <a:xfrm>
            <a:off x="3130098" y="2969715"/>
            <a:ext cx="6100916" cy="2460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SOS required</a:t>
            </a:r>
          </a:p>
          <a:p>
            <a:pPr marL="342900" indent="-3429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tracking </a:t>
            </a:r>
          </a:p>
          <a:p>
            <a:pPr marL="342900" indent="-3429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automatic detection </a:t>
            </a:r>
          </a:p>
          <a:p>
            <a:pPr marL="342900" indent="-3429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continuous monitoring</a:t>
            </a:r>
          </a:p>
        </p:txBody>
      </p:sp>
    </p:spTree>
    <p:extLst>
      <p:ext uri="{BB962C8B-B14F-4D97-AF65-F5344CB8AC3E}">
        <p14:creationId xmlns:p14="http://schemas.microsoft.com/office/powerpoint/2010/main" val="935406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09155-A87E-EFC3-61D2-88E087051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10;p1">
            <a:extLst>
              <a:ext uri="{FF2B5EF4-FFF2-40B4-BE49-F238E27FC236}">
                <a16:creationId xmlns:a16="http://schemas.microsoft.com/office/drawing/2014/main" id="{9B9B7004-68C3-56DE-535F-42208F6D762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8820" y="338686"/>
            <a:ext cx="1026185" cy="873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11;p1">
            <a:extLst>
              <a:ext uri="{FF2B5EF4-FFF2-40B4-BE49-F238E27FC236}">
                <a16:creationId xmlns:a16="http://schemas.microsoft.com/office/drawing/2014/main" id="{8A274A23-B1E8-2AD0-8914-D186C58076D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42387" y="338685"/>
            <a:ext cx="1149613" cy="87363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hape 0">
            <a:extLst>
              <a:ext uri="{FF2B5EF4-FFF2-40B4-BE49-F238E27FC236}">
                <a16:creationId xmlns:a16="http://schemas.microsoft.com/office/drawing/2014/main" id="{8F0E5370-B66B-7821-12D0-6C1D9718353C}"/>
              </a:ext>
            </a:extLst>
          </p:cNvPr>
          <p:cNvSpPr/>
          <p:nvPr/>
        </p:nvSpPr>
        <p:spPr>
          <a:xfrm>
            <a:off x="0" y="-1"/>
            <a:ext cx="12192000" cy="196645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B679C238-2F0B-E68F-8CEC-EC4921C90C4B}"/>
              </a:ext>
            </a:extLst>
          </p:cNvPr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ED5BC7F7-09CE-0F7B-3D50-7C17993896E9}"/>
              </a:ext>
            </a:extLst>
          </p:cNvPr>
          <p:cNvSpPr/>
          <p:nvPr/>
        </p:nvSpPr>
        <p:spPr>
          <a:xfrm>
            <a:off x="0" y="196644"/>
            <a:ext cx="108155" cy="6496764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7893554C-A2DE-AE26-F3E7-DE7F7298BE8C}"/>
              </a:ext>
            </a:extLst>
          </p:cNvPr>
          <p:cNvSpPr/>
          <p:nvPr/>
        </p:nvSpPr>
        <p:spPr>
          <a:xfrm>
            <a:off x="670559" y="1427547"/>
            <a:ext cx="11019995" cy="45719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A3F162DF-4B1D-032F-1900-3088135DAD86}"/>
              </a:ext>
            </a:extLst>
          </p:cNvPr>
          <p:cNvSpPr/>
          <p:nvPr/>
        </p:nvSpPr>
        <p:spPr>
          <a:xfrm>
            <a:off x="2783589" y="2263689"/>
            <a:ext cx="5583363" cy="4132633"/>
          </a:xfrm>
          <a:prstGeom prst="rect">
            <a:avLst/>
          </a:prstGeom>
          <a:solidFill>
            <a:srgbClr val="E8E8E8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940DDD99-9657-B601-E966-C8A13554E1A6}"/>
              </a:ext>
            </a:extLst>
          </p:cNvPr>
          <p:cNvSpPr/>
          <p:nvPr/>
        </p:nvSpPr>
        <p:spPr>
          <a:xfrm>
            <a:off x="2558506" y="2279169"/>
            <a:ext cx="225083" cy="4132633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7BBC6-9AB5-64DD-D7A0-7A50A2742532}"/>
              </a:ext>
            </a:extLst>
          </p:cNvPr>
          <p:cNvSpPr txBox="1"/>
          <p:nvPr/>
        </p:nvSpPr>
        <p:spPr>
          <a:xfrm>
            <a:off x="3837038" y="637124"/>
            <a:ext cx="61009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525F38-7BDD-64AA-ADAF-95BEE143447A}"/>
              </a:ext>
            </a:extLst>
          </p:cNvPr>
          <p:cNvSpPr txBox="1"/>
          <p:nvPr/>
        </p:nvSpPr>
        <p:spPr>
          <a:xfrm>
            <a:off x="3463413" y="3158928"/>
            <a:ext cx="6100916" cy="2460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emergency detection </a:t>
            </a:r>
          </a:p>
          <a:p>
            <a:pPr marL="342900" indent="-3429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location tracking </a:t>
            </a:r>
          </a:p>
          <a:p>
            <a:pPr marL="342900" indent="-3429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alerts Centralized </a:t>
            </a:r>
          </a:p>
          <a:p>
            <a:pPr marL="342900" indent="-3429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guardian dashboard</a:t>
            </a:r>
          </a:p>
        </p:txBody>
      </p:sp>
    </p:spTree>
    <p:extLst>
      <p:ext uri="{BB962C8B-B14F-4D97-AF65-F5344CB8AC3E}">
        <p14:creationId xmlns:p14="http://schemas.microsoft.com/office/powerpoint/2010/main" val="698883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0893C-58AF-C2AE-D0FA-FB7035C13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10;p1">
            <a:extLst>
              <a:ext uri="{FF2B5EF4-FFF2-40B4-BE49-F238E27FC236}">
                <a16:creationId xmlns:a16="http://schemas.microsoft.com/office/drawing/2014/main" id="{3CF1062B-857E-35D0-4C52-55DFECEDCB2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8820" y="338686"/>
            <a:ext cx="1026185" cy="873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11;p1">
            <a:extLst>
              <a:ext uri="{FF2B5EF4-FFF2-40B4-BE49-F238E27FC236}">
                <a16:creationId xmlns:a16="http://schemas.microsoft.com/office/drawing/2014/main" id="{26FF2B8B-B265-7512-6D5B-4625594D7C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42387" y="338685"/>
            <a:ext cx="1149613" cy="87363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hape 0">
            <a:extLst>
              <a:ext uri="{FF2B5EF4-FFF2-40B4-BE49-F238E27FC236}">
                <a16:creationId xmlns:a16="http://schemas.microsoft.com/office/drawing/2014/main" id="{31CA69E1-35D5-3CC6-5423-0928698C7033}"/>
              </a:ext>
            </a:extLst>
          </p:cNvPr>
          <p:cNvSpPr/>
          <p:nvPr/>
        </p:nvSpPr>
        <p:spPr>
          <a:xfrm>
            <a:off x="0" y="-1"/>
            <a:ext cx="12192000" cy="196645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7306909D-C7FF-2C93-94DD-AE7DFD74DD9E}"/>
              </a:ext>
            </a:extLst>
          </p:cNvPr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45B40934-44BD-F18B-F56A-9AE3FF080190}"/>
              </a:ext>
            </a:extLst>
          </p:cNvPr>
          <p:cNvSpPr/>
          <p:nvPr/>
        </p:nvSpPr>
        <p:spPr>
          <a:xfrm>
            <a:off x="0" y="196644"/>
            <a:ext cx="108155" cy="6496764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DFA4F605-9790-41F0-E94D-0E017A1A0E99}"/>
              </a:ext>
            </a:extLst>
          </p:cNvPr>
          <p:cNvSpPr/>
          <p:nvPr/>
        </p:nvSpPr>
        <p:spPr>
          <a:xfrm>
            <a:off x="670559" y="1427547"/>
            <a:ext cx="11019995" cy="45719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730DF5-ABC7-EF5C-F3B0-3E0B46399A99}"/>
              </a:ext>
            </a:extLst>
          </p:cNvPr>
          <p:cNvSpPr txBox="1"/>
          <p:nvPr/>
        </p:nvSpPr>
        <p:spPr>
          <a:xfrm>
            <a:off x="3453581" y="627544"/>
            <a:ext cx="61009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 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96C895-C2F1-6AA6-EDD8-82B1551EA5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9548" y="1688494"/>
            <a:ext cx="6972904" cy="464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284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F124D-EAE5-E2D5-829A-50152A9F9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10;p1">
            <a:extLst>
              <a:ext uri="{FF2B5EF4-FFF2-40B4-BE49-F238E27FC236}">
                <a16:creationId xmlns:a16="http://schemas.microsoft.com/office/drawing/2014/main" id="{D4FD9EBE-92A3-FFB0-B6BD-0A5BCA6301D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8820" y="338686"/>
            <a:ext cx="1026185" cy="873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11;p1">
            <a:extLst>
              <a:ext uri="{FF2B5EF4-FFF2-40B4-BE49-F238E27FC236}">
                <a16:creationId xmlns:a16="http://schemas.microsoft.com/office/drawing/2014/main" id="{DFA2D65C-788C-3D13-0FE6-89B58E5AC52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42387" y="338685"/>
            <a:ext cx="1149613" cy="87363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hape 0">
            <a:extLst>
              <a:ext uri="{FF2B5EF4-FFF2-40B4-BE49-F238E27FC236}">
                <a16:creationId xmlns:a16="http://schemas.microsoft.com/office/drawing/2014/main" id="{46B28359-88EC-371C-CC57-F86C23B445C8}"/>
              </a:ext>
            </a:extLst>
          </p:cNvPr>
          <p:cNvSpPr/>
          <p:nvPr/>
        </p:nvSpPr>
        <p:spPr>
          <a:xfrm>
            <a:off x="0" y="-1"/>
            <a:ext cx="12192000" cy="196645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D1EF223B-CA37-9D97-4568-93AA62C3F7E6}"/>
              </a:ext>
            </a:extLst>
          </p:cNvPr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FC786E64-17E2-F136-BF0F-90A3B8603036}"/>
              </a:ext>
            </a:extLst>
          </p:cNvPr>
          <p:cNvSpPr/>
          <p:nvPr/>
        </p:nvSpPr>
        <p:spPr>
          <a:xfrm>
            <a:off x="0" y="196644"/>
            <a:ext cx="108155" cy="6496764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47CFFB92-2F13-001C-1508-7BD7392CCAB0}"/>
              </a:ext>
            </a:extLst>
          </p:cNvPr>
          <p:cNvSpPr/>
          <p:nvPr/>
        </p:nvSpPr>
        <p:spPr>
          <a:xfrm>
            <a:off x="670559" y="1427547"/>
            <a:ext cx="11019995" cy="45719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4" name="Shape 8">
            <a:extLst>
              <a:ext uri="{FF2B5EF4-FFF2-40B4-BE49-F238E27FC236}">
                <a16:creationId xmlns:a16="http://schemas.microsoft.com/office/drawing/2014/main" id="{9E17BD95-C5D6-5FB0-BCE8-477DE6952DD1}"/>
              </a:ext>
            </a:extLst>
          </p:cNvPr>
          <p:cNvSpPr/>
          <p:nvPr/>
        </p:nvSpPr>
        <p:spPr>
          <a:xfrm>
            <a:off x="1158731" y="2443222"/>
            <a:ext cx="4297680" cy="1188720"/>
          </a:xfrm>
          <a:prstGeom prst="rect">
            <a:avLst/>
          </a:prstGeom>
          <a:solidFill>
            <a:srgbClr val="E8E8E8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D6023336-1497-2A69-5935-94AD4DF52F3B}"/>
              </a:ext>
            </a:extLst>
          </p:cNvPr>
          <p:cNvSpPr/>
          <p:nvPr/>
        </p:nvSpPr>
        <p:spPr>
          <a:xfrm>
            <a:off x="7156409" y="2443222"/>
            <a:ext cx="4297680" cy="1188720"/>
          </a:xfrm>
          <a:prstGeom prst="rect">
            <a:avLst/>
          </a:prstGeom>
          <a:solidFill>
            <a:srgbClr val="E8E8E8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24E88F86-8692-2E90-6663-94EA6B90DF7B}"/>
              </a:ext>
            </a:extLst>
          </p:cNvPr>
          <p:cNvSpPr/>
          <p:nvPr/>
        </p:nvSpPr>
        <p:spPr>
          <a:xfrm>
            <a:off x="4442706" y="4822426"/>
            <a:ext cx="4297680" cy="1188720"/>
          </a:xfrm>
          <a:prstGeom prst="rect">
            <a:avLst/>
          </a:prstGeom>
          <a:solidFill>
            <a:srgbClr val="E8E8E8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318D864-FE32-6B03-E41B-E15A5A28FE44}"/>
              </a:ext>
            </a:extLst>
          </p:cNvPr>
          <p:cNvSpPr/>
          <p:nvPr/>
        </p:nvSpPr>
        <p:spPr>
          <a:xfrm>
            <a:off x="737911" y="2443222"/>
            <a:ext cx="457200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BDADEC70-1799-6C4B-FE76-850CEE515572}"/>
              </a:ext>
            </a:extLst>
          </p:cNvPr>
          <p:cNvSpPr/>
          <p:nvPr/>
        </p:nvSpPr>
        <p:spPr>
          <a:xfrm>
            <a:off x="6846494" y="2443222"/>
            <a:ext cx="457200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9206A392-172C-8E0F-1F8D-5BAF98966976}"/>
              </a:ext>
            </a:extLst>
          </p:cNvPr>
          <p:cNvSpPr/>
          <p:nvPr/>
        </p:nvSpPr>
        <p:spPr>
          <a:xfrm>
            <a:off x="4096119" y="4836093"/>
            <a:ext cx="457200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D34930-F582-CEDC-7D97-8EE88235B233}"/>
              </a:ext>
            </a:extLst>
          </p:cNvPr>
          <p:cNvSpPr txBox="1"/>
          <p:nvPr/>
        </p:nvSpPr>
        <p:spPr>
          <a:xfrm>
            <a:off x="4096119" y="594639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BEE1AC-D22A-920B-C90B-0AAC731FE12C}"/>
              </a:ext>
            </a:extLst>
          </p:cNvPr>
          <p:cNvSpPr txBox="1"/>
          <p:nvPr/>
        </p:nvSpPr>
        <p:spPr>
          <a:xfrm>
            <a:off x="4123158" y="5308401"/>
            <a:ext cx="430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5D758B-DBFF-3E68-D73C-411164860A79}"/>
              </a:ext>
            </a:extLst>
          </p:cNvPr>
          <p:cNvSpPr txBox="1"/>
          <p:nvPr/>
        </p:nvSpPr>
        <p:spPr>
          <a:xfrm>
            <a:off x="776502" y="282916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F6F2A9-4BAD-B3E6-1C03-B9B5A89D5470}"/>
              </a:ext>
            </a:extLst>
          </p:cNvPr>
          <p:cNvSpPr txBox="1"/>
          <p:nvPr/>
        </p:nvSpPr>
        <p:spPr>
          <a:xfrm>
            <a:off x="6880024" y="281933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E1AB7DE-C885-5980-EE7F-09BAFC0A0C37}"/>
              </a:ext>
            </a:extLst>
          </p:cNvPr>
          <p:cNvSpPr txBox="1"/>
          <p:nvPr/>
        </p:nvSpPr>
        <p:spPr>
          <a:xfrm>
            <a:off x="1429561" y="2625798"/>
            <a:ext cx="40436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Emergency Monitoring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F55AF4F-6A40-D25D-1758-19B7BC7A974E}"/>
              </a:ext>
            </a:extLst>
          </p:cNvPr>
          <p:cNvSpPr txBox="1"/>
          <p:nvPr/>
        </p:nvSpPr>
        <p:spPr>
          <a:xfrm>
            <a:off x="7438105" y="2756367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Location Sharing</a:t>
            </a:r>
            <a:endParaRPr lang="en-IN" sz="2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7301D4D-BB46-BD0C-9C3A-DF0D32396CCB}"/>
              </a:ext>
            </a:extLst>
          </p:cNvPr>
          <p:cNvSpPr txBox="1"/>
          <p:nvPr/>
        </p:nvSpPr>
        <p:spPr>
          <a:xfrm>
            <a:off x="5054162" y="5170678"/>
            <a:ext cx="31951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Guardian Dashboard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28952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D6787-FDB0-ED8A-5F74-061DB491C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10;p1">
            <a:extLst>
              <a:ext uri="{FF2B5EF4-FFF2-40B4-BE49-F238E27FC236}">
                <a16:creationId xmlns:a16="http://schemas.microsoft.com/office/drawing/2014/main" id="{99893007-D13A-EB69-0EFF-E2C0385118B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8820" y="338686"/>
            <a:ext cx="1026185" cy="873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11;p1">
            <a:extLst>
              <a:ext uri="{FF2B5EF4-FFF2-40B4-BE49-F238E27FC236}">
                <a16:creationId xmlns:a16="http://schemas.microsoft.com/office/drawing/2014/main" id="{B730BD47-C5A2-0123-1FC9-3E0D70BC429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42387" y="338685"/>
            <a:ext cx="1149613" cy="87363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hape 0">
            <a:extLst>
              <a:ext uri="{FF2B5EF4-FFF2-40B4-BE49-F238E27FC236}">
                <a16:creationId xmlns:a16="http://schemas.microsoft.com/office/drawing/2014/main" id="{DBBF7F85-4051-E6D0-4674-C92FF3581DEC}"/>
              </a:ext>
            </a:extLst>
          </p:cNvPr>
          <p:cNvSpPr/>
          <p:nvPr/>
        </p:nvSpPr>
        <p:spPr>
          <a:xfrm>
            <a:off x="0" y="-1"/>
            <a:ext cx="12192000" cy="196645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E80B35B5-D7F0-9958-5548-61EBD8465074}"/>
              </a:ext>
            </a:extLst>
          </p:cNvPr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E7543AE0-5BDF-A1E5-40D7-3AD90CA711DE}"/>
              </a:ext>
            </a:extLst>
          </p:cNvPr>
          <p:cNvSpPr/>
          <p:nvPr/>
        </p:nvSpPr>
        <p:spPr>
          <a:xfrm>
            <a:off x="0" y="196644"/>
            <a:ext cx="108155" cy="6496764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4E8B628C-B23E-87BB-83C0-C9BD4B5656C2}"/>
              </a:ext>
            </a:extLst>
          </p:cNvPr>
          <p:cNvSpPr/>
          <p:nvPr/>
        </p:nvSpPr>
        <p:spPr>
          <a:xfrm>
            <a:off x="670559" y="1427547"/>
            <a:ext cx="11019995" cy="45719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337136EA-AD4D-1D66-2243-39E07EC70B8C}"/>
              </a:ext>
            </a:extLst>
          </p:cNvPr>
          <p:cNvSpPr/>
          <p:nvPr/>
        </p:nvSpPr>
        <p:spPr>
          <a:xfrm>
            <a:off x="2420095" y="2263689"/>
            <a:ext cx="7058202" cy="4061895"/>
          </a:xfrm>
          <a:prstGeom prst="rect">
            <a:avLst/>
          </a:prstGeom>
          <a:solidFill>
            <a:srgbClr val="E8E8E8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D3D02950-AC34-238C-5624-E1EB529DC940}"/>
              </a:ext>
            </a:extLst>
          </p:cNvPr>
          <p:cNvSpPr/>
          <p:nvPr/>
        </p:nvSpPr>
        <p:spPr>
          <a:xfrm>
            <a:off x="2195012" y="2263689"/>
            <a:ext cx="225083" cy="4061895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5E226D-EA1E-A6A6-D61B-091AE6627890}"/>
              </a:ext>
            </a:extLst>
          </p:cNvPr>
          <p:cNvSpPr txBox="1"/>
          <p:nvPr/>
        </p:nvSpPr>
        <p:spPr>
          <a:xfrm>
            <a:off x="2637502" y="561353"/>
            <a:ext cx="79518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1-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Emergency Monitoring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ED3C0E-8BE9-EB23-3C50-F931F0508961}"/>
              </a:ext>
            </a:extLst>
          </p:cNvPr>
          <p:cNvSpPr txBox="1"/>
          <p:nvPr/>
        </p:nvSpPr>
        <p:spPr>
          <a:xfrm>
            <a:off x="3130098" y="2660310"/>
            <a:ext cx="6100916" cy="3268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Emergency Detection 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Disconnection Alerts 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Abnormal Activity Monitoring 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Guardian Notifications 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Updates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monitoring features</a:t>
            </a:r>
          </a:p>
        </p:txBody>
      </p:sp>
    </p:spTree>
    <p:extLst>
      <p:ext uri="{BB962C8B-B14F-4D97-AF65-F5344CB8AC3E}">
        <p14:creationId xmlns:p14="http://schemas.microsoft.com/office/powerpoint/2010/main" val="3648581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F1973-53E0-6773-87DF-CDC1E2E9D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10;p1">
            <a:extLst>
              <a:ext uri="{FF2B5EF4-FFF2-40B4-BE49-F238E27FC236}">
                <a16:creationId xmlns:a16="http://schemas.microsoft.com/office/drawing/2014/main" id="{E691C623-6E60-BF86-A641-7AF3815B53B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8820" y="338686"/>
            <a:ext cx="1026185" cy="873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11;p1">
            <a:extLst>
              <a:ext uri="{FF2B5EF4-FFF2-40B4-BE49-F238E27FC236}">
                <a16:creationId xmlns:a16="http://schemas.microsoft.com/office/drawing/2014/main" id="{DBDE509E-995D-D1D6-55EC-0B880E2829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42387" y="338685"/>
            <a:ext cx="1149613" cy="87363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hape 0">
            <a:extLst>
              <a:ext uri="{FF2B5EF4-FFF2-40B4-BE49-F238E27FC236}">
                <a16:creationId xmlns:a16="http://schemas.microsoft.com/office/drawing/2014/main" id="{67052E3C-F6E6-58C3-77A8-AE0352A23BB6}"/>
              </a:ext>
            </a:extLst>
          </p:cNvPr>
          <p:cNvSpPr/>
          <p:nvPr/>
        </p:nvSpPr>
        <p:spPr>
          <a:xfrm>
            <a:off x="0" y="-1"/>
            <a:ext cx="12192000" cy="196645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1C943CFB-A637-0E1F-8EFE-33FAFF7B5526}"/>
              </a:ext>
            </a:extLst>
          </p:cNvPr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2184050B-823D-13E8-B78E-A14BF0056DB8}"/>
              </a:ext>
            </a:extLst>
          </p:cNvPr>
          <p:cNvSpPr/>
          <p:nvPr/>
        </p:nvSpPr>
        <p:spPr>
          <a:xfrm>
            <a:off x="0" y="196644"/>
            <a:ext cx="108155" cy="6496764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08596268-D234-085D-25E3-D72713E9BF32}"/>
              </a:ext>
            </a:extLst>
          </p:cNvPr>
          <p:cNvSpPr/>
          <p:nvPr/>
        </p:nvSpPr>
        <p:spPr>
          <a:xfrm>
            <a:off x="670559" y="1427547"/>
            <a:ext cx="11019995" cy="45719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E7AC1E1A-964D-AA09-0B05-D3CCD6A0D997}"/>
              </a:ext>
            </a:extLst>
          </p:cNvPr>
          <p:cNvSpPr/>
          <p:nvPr/>
        </p:nvSpPr>
        <p:spPr>
          <a:xfrm>
            <a:off x="2420095" y="2263689"/>
            <a:ext cx="7058202" cy="4061895"/>
          </a:xfrm>
          <a:prstGeom prst="rect">
            <a:avLst/>
          </a:prstGeom>
          <a:solidFill>
            <a:srgbClr val="E8E8E8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E1425119-F56E-B902-72D4-D7818FD5812B}"/>
              </a:ext>
            </a:extLst>
          </p:cNvPr>
          <p:cNvSpPr/>
          <p:nvPr/>
        </p:nvSpPr>
        <p:spPr>
          <a:xfrm>
            <a:off x="2195012" y="2263689"/>
            <a:ext cx="225083" cy="4061895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47DDE7-0100-8650-128F-BCA892FDB819}"/>
              </a:ext>
            </a:extLst>
          </p:cNvPr>
          <p:cNvSpPr txBox="1"/>
          <p:nvPr/>
        </p:nvSpPr>
        <p:spPr>
          <a:xfrm>
            <a:off x="2961969" y="564468"/>
            <a:ext cx="77945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2-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Location Sharing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D63594-D803-9D20-4BD8-DD2C15217FA2}"/>
              </a:ext>
            </a:extLst>
          </p:cNvPr>
          <p:cNvSpPr txBox="1"/>
          <p:nvPr/>
        </p:nvSpPr>
        <p:spPr>
          <a:xfrm>
            <a:off x="3045542" y="2660310"/>
            <a:ext cx="6100916" cy="3268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GPS Tracking 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Location Updates 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History 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Geofencing (Safe Zones) 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Location-Based Alerts 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Location Sharing</a:t>
            </a:r>
          </a:p>
        </p:txBody>
      </p:sp>
    </p:spTree>
    <p:extLst>
      <p:ext uri="{BB962C8B-B14F-4D97-AF65-F5344CB8AC3E}">
        <p14:creationId xmlns:p14="http://schemas.microsoft.com/office/powerpoint/2010/main" val="913363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D88D9-41B1-BB3C-2991-AE68B7EA2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10;p1">
            <a:extLst>
              <a:ext uri="{FF2B5EF4-FFF2-40B4-BE49-F238E27FC236}">
                <a16:creationId xmlns:a16="http://schemas.microsoft.com/office/drawing/2014/main" id="{2D0039DD-5EE1-E009-2328-DA48BF683B9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8820" y="338686"/>
            <a:ext cx="1026185" cy="873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11;p1">
            <a:extLst>
              <a:ext uri="{FF2B5EF4-FFF2-40B4-BE49-F238E27FC236}">
                <a16:creationId xmlns:a16="http://schemas.microsoft.com/office/drawing/2014/main" id="{C476FBEF-6A1C-8329-C352-9D7D0C156BC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42387" y="338685"/>
            <a:ext cx="1149613" cy="87363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hape 0">
            <a:extLst>
              <a:ext uri="{FF2B5EF4-FFF2-40B4-BE49-F238E27FC236}">
                <a16:creationId xmlns:a16="http://schemas.microsoft.com/office/drawing/2014/main" id="{E0190C4C-6730-547C-354C-596491CDC17A}"/>
              </a:ext>
            </a:extLst>
          </p:cNvPr>
          <p:cNvSpPr/>
          <p:nvPr/>
        </p:nvSpPr>
        <p:spPr>
          <a:xfrm>
            <a:off x="0" y="-1"/>
            <a:ext cx="12192000" cy="196645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6D69181D-7955-97AB-8256-5B7F7DE456DF}"/>
              </a:ext>
            </a:extLst>
          </p:cNvPr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574519A5-53C5-EBFF-DEFE-BB355768FCE1}"/>
              </a:ext>
            </a:extLst>
          </p:cNvPr>
          <p:cNvSpPr/>
          <p:nvPr/>
        </p:nvSpPr>
        <p:spPr>
          <a:xfrm>
            <a:off x="0" y="196644"/>
            <a:ext cx="108155" cy="6496764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0B044986-72B9-74A4-6C52-F349BABD5871}"/>
              </a:ext>
            </a:extLst>
          </p:cNvPr>
          <p:cNvSpPr/>
          <p:nvPr/>
        </p:nvSpPr>
        <p:spPr>
          <a:xfrm>
            <a:off x="670559" y="1427547"/>
            <a:ext cx="11019995" cy="45719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2FFE24EC-DA77-DDE5-FB3A-10CFD269893E}"/>
              </a:ext>
            </a:extLst>
          </p:cNvPr>
          <p:cNvSpPr/>
          <p:nvPr/>
        </p:nvSpPr>
        <p:spPr>
          <a:xfrm>
            <a:off x="2420095" y="2263689"/>
            <a:ext cx="7058202" cy="4061895"/>
          </a:xfrm>
          <a:prstGeom prst="rect">
            <a:avLst/>
          </a:prstGeom>
          <a:solidFill>
            <a:srgbClr val="E8E8E8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BCBEC3A7-08E9-6C1B-94F0-6B0430CD0171}"/>
              </a:ext>
            </a:extLst>
          </p:cNvPr>
          <p:cNvSpPr/>
          <p:nvPr/>
        </p:nvSpPr>
        <p:spPr>
          <a:xfrm>
            <a:off x="2195012" y="2263689"/>
            <a:ext cx="225083" cy="4061895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12ED8D-DC45-52D1-77E4-AB7FCD891384}"/>
              </a:ext>
            </a:extLst>
          </p:cNvPr>
          <p:cNvSpPr txBox="1"/>
          <p:nvPr/>
        </p:nvSpPr>
        <p:spPr>
          <a:xfrm>
            <a:off x="3377381" y="637124"/>
            <a:ext cx="61009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3-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Guardian Dashboard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5BBCE1-5B27-4442-E387-C7F02A82CBD7}"/>
              </a:ext>
            </a:extLst>
          </p:cNvPr>
          <p:cNvSpPr txBox="1"/>
          <p:nvPr/>
        </p:nvSpPr>
        <p:spPr>
          <a:xfrm>
            <a:off x="3099619" y="2660310"/>
            <a:ext cx="6100916" cy="3268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Management 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Reports 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 Usage Monitoring 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Restriction 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Activity Tracking</a:t>
            </a:r>
          </a:p>
        </p:txBody>
      </p:sp>
    </p:spTree>
    <p:extLst>
      <p:ext uri="{BB962C8B-B14F-4D97-AF65-F5344CB8AC3E}">
        <p14:creationId xmlns:p14="http://schemas.microsoft.com/office/powerpoint/2010/main" val="4239791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55D57-E63C-FA60-49E0-ABD91FA40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10;p1">
            <a:extLst>
              <a:ext uri="{FF2B5EF4-FFF2-40B4-BE49-F238E27FC236}">
                <a16:creationId xmlns:a16="http://schemas.microsoft.com/office/drawing/2014/main" id="{C16DE2B7-A3F0-74B8-8FBB-8149230D177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8820" y="338686"/>
            <a:ext cx="1026185" cy="873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11;p1">
            <a:extLst>
              <a:ext uri="{FF2B5EF4-FFF2-40B4-BE49-F238E27FC236}">
                <a16:creationId xmlns:a16="http://schemas.microsoft.com/office/drawing/2014/main" id="{350D6DAE-BF4C-6659-3271-1ABB8229115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42387" y="338685"/>
            <a:ext cx="1149613" cy="87363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hape 0">
            <a:extLst>
              <a:ext uri="{FF2B5EF4-FFF2-40B4-BE49-F238E27FC236}">
                <a16:creationId xmlns:a16="http://schemas.microsoft.com/office/drawing/2014/main" id="{351E4107-8225-8183-8242-766118768327}"/>
              </a:ext>
            </a:extLst>
          </p:cNvPr>
          <p:cNvSpPr/>
          <p:nvPr/>
        </p:nvSpPr>
        <p:spPr>
          <a:xfrm>
            <a:off x="0" y="-1"/>
            <a:ext cx="12192000" cy="196645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70486B7B-6398-D1EA-5443-03F0B2761E16}"/>
              </a:ext>
            </a:extLst>
          </p:cNvPr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A632012E-B672-0C43-2FCA-C872187840CB}"/>
              </a:ext>
            </a:extLst>
          </p:cNvPr>
          <p:cNvSpPr/>
          <p:nvPr/>
        </p:nvSpPr>
        <p:spPr>
          <a:xfrm>
            <a:off x="0" y="196644"/>
            <a:ext cx="108155" cy="6496764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C24F98C0-B069-FFC9-7AD6-85F6539D930D}"/>
              </a:ext>
            </a:extLst>
          </p:cNvPr>
          <p:cNvSpPr/>
          <p:nvPr/>
        </p:nvSpPr>
        <p:spPr>
          <a:xfrm>
            <a:off x="670559" y="1427547"/>
            <a:ext cx="11019995" cy="45719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C8E945A2-BA2A-F9CD-8851-7E24DAF4EB23}"/>
              </a:ext>
            </a:extLst>
          </p:cNvPr>
          <p:cNvSpPr/>
          <p:nvPr/>
        </p:nvSpPr>
        <p:spPr>
          <a:xfrm>
            <a:off x="2420095" y="2263689"/>
            <a:ext cx="7058202" cy="4061895"/>
          </a:xfrm>
          <a:prstGeom prst="rect">
            <a:avLst/>
          </a:prstGeom>
          <a:solidFill>
            <a:srgbClr val="E8E8E8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1FD47517-4AE2-7401-9ABE-4C3BA05333BF}"/>
              </a:ext>
            </a:extLst>
          </p:cNvPr>
          <p:cNvSpPr/>
          <p:nvPr/>
        </p:nvSpPr>
        <p:spPr>
          <a:xfrm>
            <a:off x="2195012" y="2263689"/>
            <a:ext cx="225083" cy="4061895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4DE4EE-793E-B1E6-BBFA-EE0B66317C5F}"/>
              </a:ext>
            </a:extLst>
          </p:cNvPr>
          <p:cNvSpPr txBox="1"/>
          <p:nvPr/>
        </p:nvSpPr>
        <p:spPr>
          <a:xfrm>
            <a:off x="4574458" y="627544"/>
            <a:ext cx="61009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8A2F15-039E-1B79-8F56-14F18D2EBF3D}"/>
              </a:ext>
            </a:extLst>
          </p:cNvPr>
          <p:cNvSpPr txBox="1"/>
          <p:nvPr/>
        </p:nvSpPr>
        <p:spPr>
          <a:xfrm>
            <a:off x="3045542" y="2870746"/>
            <a:ext cx="6100916" cy="2806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personal safety through automation. 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emergencies without manual action. 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Shares live location instantly. 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faster response and better safety management. 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solution for modern personal security. </a:t>
            </a:r>
          </a:p>
        </p:txBody>
      </p:sp>
    </p:spTree>
    <p:extLst>
      <p:ext uri="{BB962C8B-B14F-4D97-AF65-F5344CB8AC3E}">
        <p14:creationId xmlns:p14="http://schemas.microsoft.com/office/powerpoint/2010/main" val="17559224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8F61A-B0CF-B113-4DFF-F760CA58F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10;p1">
            <a:extLst>
              <a:ext uri="{FF2B5EF4-FFF2-40B4-BE49-F238E27FC236}">
                <a16:creationId xmlns:a16="http://schemas.microsoft.com/office/drawing/2014/main" id="{5AE938E3-89F5-A5C3-DAE0-6983911D0B8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8820" y="338686"/>
            <a:ext cx="1026185" cy="873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11;p1">
            <a:extLst>
              <a:ext uri="{FF2B5EF4-FFF2-40B4-BE49-F238E27FC236}">
                <a16:creationId xmlns:a16="http://schemas.microsoft.com/office/drawing/2014/main" id="{6FA36298-5B61-4CCF-CDE0-AE1849C3BCC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42387" y="338685"/>
            <a:ext cx="1149613" cy="87363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hape 0">
            <a:extLst>
              <a:ext uri="{FF2B5EF4-FFF2-40B4-BE49-F238E27FC236}">
                <a16:creationId xmlns:a16="http://schemas.microsoft.com/office/drawing/2014/main" id="{6B27D781-95F2-858F-9835-5F7978C4654E}"/>
              </a:ext>
            </a:extLst>
          </p:cNvPr>
          <p:cNvSpPr/>
          <p:nvPr/>
        </p:nvSpPr>
        <p:spPr>
          <a:xfrm>
            <a:off x="0" y="-1"/>
            <a:ext cx="12192000" cy="196645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5BBC1864-4295-20B6-B8F7-5E32C51D4D54}"/>
              </a:ext>
            </a:extLst>
          </p:cNvPr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1696CA30-244C-18A0-025A-13E48928E01D}"/>
              </a:ext>
            </a:extLst>
          </p:cNvPr>
          <p:cNvSpPr/>
          <p:nvPr/>
        </p:nvSpPr>
        <p:spPr>
          <a:xfrm>
            <a:off x="0" y="196644"/>
            <a:ext cx="108155" cy="6496764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A9E67787-532F-2CAE-9F96-52081829BB4C}"/>
              </a:ext>
            </a:extLst>
          </p:cNvPr>
          <p:cNvSpPr/>
          <p:nvPr/>
        </p:nvSpPr>
        <p:spPr>
          <a:xfrm>
            <a:off x="670559" y="1427547"/>
            <a:ext cx="11019995" cy="45719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BC809A16-2A58-0AAF-B58B-737317CCB656}"/>
              </a:ext>
            </a:extLst>
          </p:cNvPr>
          <p:cNvSpPr/>
          <p:nvPr/>
        </p:nvSpPr>
        <p:spPr>
          <a:xfrm>
            <a:off x="2340078" y="2068577"/>
            <a:ext cx="7656910" cy="4257007"/>
          </a:xfrm>
          <a:prstGeom prst="rect">
            <a:avLst/>
          </a:prstGeom>
          <a:solidFill>
            <a:srgbClr val="E8E8E8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BCA3B1DD-1A86-5BED-39AF-79AD166E29BF}"/>
              </a:ext>
            </a:extLst>
          </p:cNvPr>
          <p:cNvSpPr/>
          <p:nvPr/>
        </p:nvSpPr>
        <p:spPr>
          <a:xfrm>
            <a:off x="2225868" y="2052389"/>
            <a:ext cx="271526" cy="4257007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6D36CD-0FDF-265E-3CD1-8B3ACF290186}"/>
              </a:ext>
            </a:extLst>
          </p:cNvPr>
          <p:cNvSpPr txBox="1"/>
          <p:nvPr/>
        </p:nvSpPr>
        <p:spPr>
          <a:xfrm>
            <a:off x="4485968" y="581653"/>
            <a:ext cx="61009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7D0C9C-34B6-3C95-5F43-EF5D7EC53819}"/>
              </a:ext>
            </a:extLst>
          </p:cNvPr>
          <p:cNvSpPr txBox="1"/>
          <p:nvPr/>
        </p:nvSpPr>
        <p:spPr>
          <a:xfrm>
            <a:off x="2911048" y="2098300"/>
            <a:ext cx="6594987" cy="419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Emergency Detection: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machine learning to identify accidents, abnormal movements, or distress situations more accurately. 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 Device Integration: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 with smartwatches and fitness bands to monitor heart rate, fall detection, and health conditions. 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Voice-Activated Emergency Assistance: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 hands-free emergency alerts through voice commands. 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 Emergency Alerts: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Send SOS messages via SMS when internet connectivity is unavailable.</a:t>
            </a:r>
          </a:p>
        </p:txBody>
      </p:sp>
    </p:spTree>
    <p:extLst>
      <p:ext uri="{BB962C8B-B14F-4D97-AF65-F5344CB8AC3E}">
        <p14:creationId xmlns:p14="http://schemas.microsoft.com/office/powerpoint/2010/main" val="2431425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029DD-102F-0335-FC7C-E0BDDC925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10;p1">
            <a:extLst>
              <a:ext uri="{FF2B5EF4-FFF2-40B4-BE49-F238E27FC236}">
                <a16:creationId xmlns:a16="http://schemas.microsoft.com/office/drawing/2014/main" id="{B80ECFC5-C6F2-E81A-E5AC-A0EC81A56A7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8820" y="338686"/>
            <a:ext cx="1026185" cy="873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11;p1">
            <a:extLst>
              <a:ext uri="{FF2B5EF4-FFF2-40B4-BE49-F238E27FC236}">
                <a16:creationId xmlns:a16="http://schemas.microsoft.com/office/drawing/2014/main" id="{1554CB6A-229A-454F-6586-8098EC08AEA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42387" y="338685"/>
            <a:ext cx="1149613" cy="87363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hape 0">
            <a:extLst>
              <a:ext uri="{FF2B5EF4-FFF2-40B4-BE49-F238E27FC236}">
                <a16:creationId xmlns:a16="http://schemas.microsoft.com/office/drawing/2014/main" id="{31DF7E0C-28A9-417F-46DB-1A8E8D37D773}"/>
              </a:ext>
            </a:extLst>
          </p:cNvPr>
          <p:cNvSpPr/>
          <p:nvPr/>
        </p:nvSpPr>
        <p:spPr>
          <a:xfrm>
            <a:off x="0" y="-1"/>
            <a:ext cx="12192000" cy="196645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A1D4EC14-6C19-696B-7888-828921D45882}"/>
              </a:ext>
            </a:extLst>
          </p:cNvPr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AB7AF1A4-E724-B799-76A9-A8C70CD6CF25}"/>
              </a:ext>
            </a:extLst>
          </p:cNvPr>
          <p:cNvSpPr/>
          <p:nvPr/>
        </p:nvSpPr>
        <p:spPr>
          <a:xfrm>
            <a:off x="0" y="196644"/>
            <a:ext cx="108155" cy="6496764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03DF4C92-1008-D858-F0BE-96AFD4011657}"/>
              </a:ext>
            </a:extLst>
          </p:cNvPr>
          <p:cNvSpPr/>
          <p:nvPr/>
        </p:nvSpPr>
        <p:spPr>
          <a:xfrm>
            <a:off x="670559" y="1427547"/>
            <a:ext cx="11019995" cy="45719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308E14A7-A142-EC11-0405-0C62B7799EB9}"/>
              </a:ext>
            </a:extLst>
          </p:cNvPr>
          <p:cNvSpPr/>
          <p:nvPr/>
        </p:nvSpPr>
        <p:spPr>
          <a:xfrm>
            <a:off x="2319959" y="1875679"/>
            <a:ext cx="9478751" cy="4249617"/>
          </a:xfrm>
          <a:prstGeom prst="rect">
            <a:avLst/>
          </a:prstGeom>
          <a:solidFill>
            <a:srgbClr val="E8E8E8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22F6B401-22C5-C595-39CA-6012E6703E02}"/>
              </a:ext>
            </a:extLst>
          </p:cNvPr>
          <p:cNvSpPr/>
          <p:nvPr/>
        </p:nvSpPr>
        <p:spPr>
          <a:xfrm>
            <a:off x="2082696" y="1875679"/>
            <a:ext cx="355704" cy="4249617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E3F7CC-6D71-6937-C69F-EC1C9CBDB2D9}"/>
              </a:ext>
            </a:extLst>
          </p:cNvPr>
          <p:cNvSpPr txBox="1"/>
          <p:nvPr/>
        </p:nvSpPr>
        <p:spPr>
          <a:xfrm>
            <a:off x="4869426" y="613141"/>
            <a:ext cx="61009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09E222-771E-7C01-52CF-C23D5941AD4E}"/>
              </a:ext>
            </a:extLst>
          </p:cNvPr>
          <p:cNvSpPr txBox="1"/>
          <p:nvPr/>
        </p:nvSpPr>
        <p:spPr>
          <a:xfrm>
            <a:off x="2438400" y="1875679"/>
            <a:ext cx="9153832" cy="419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Gowda, D. V., et al. (2023).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a Real-Time Location Monitoring App with Emergency Alert Features for Android Devices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Alliance University.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Banerjee, S., Maiti, P., &amp; Biswas, S. (2024).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Empowering Personal Safety Through Mobile Apps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ResearchGate.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Bowen-Forbes, C., et al. (2024).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Apps for the Personal Safety of At-Risk Children and Youth: A Scoping Review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Journal of Medical Internet Research (JMIR).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Mowbray, F., et al. (2024).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Systematic Review of Mobile Alerting During Emergencies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Wiley Online Library.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Nerkar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H., et al. (2024).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on Safe Route Recommendation System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International Journal of Scientific Research and Development (IJSRD).</a:t>
            </a:r>
          </a:p>
        </p:txBody>
      </p:sp>
    </p:spTree>
    <p:extLst>
      <p:ext uri="{BB962C8B-B14F-4D97-AF65-F5344CB8AC3E}">
        <p14:creationId xmlns:p14="http://schemas.microsoft.com/office/powerpoint/2010/main" val="2448088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CE9E5-953B-F3A1-934C-08366E6C7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10;p1">
            <a:extLst>
              <a:ext uri="{FF2B5EF4-FFF2-40B4-BE49-F238E27FC236}">
                <a16:creationId xmlns:a16="http://schemas.microsoft.com/office/drawing/2014/main" id="{91CEE050-4C9C-8DA6-CA5F-F3BCE6B35B3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8820" y="338686"/>
            <a:ext cx="1026185" cy="873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11;p1">
            <a:extLst>
              <a:ext uri="{FF2B5EF4-FFF2-40B4-BE49-F238E27FC236}">
                <a16:creationId xmlns:a16="http://schemas.microsoft.com/office/drawing/2014/main" id="{4F477A9A-2BE8-9DD2-D7DA-B7B8F4D2CC3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42387" y="338685"/>
            <a:ext cx="1149613" cy="87363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hape 0">
            <a:extLst>
              <a:ext uri="{FF2B5EF4-FFF2-40B4-BE49-F238E27FC236}">
                <a16:creationId xmlns:a16="http://schemas.microsoft.com/office/drawing/2014/main" id="{18EACD63-C0D6-210F-BD86-C0AF06D369DF}"/>
              </a:ext>
            </a:extLst>
          </p:cNvPr>
          <p:cNvSpPr/>
          <p:nvPr/>
        </p:nvSpPr>
        <p:spPr>
          <a:xfrm>
            <a:off x="0" y="-1"/>
            <a:ext cx="12192000" cy="196645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07FB57CD-5771-B12C-A1B7-EA78F3A912A4}"/>
              </a:ext>
            </a:extLst>
          </p:cNvPr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4B0724D3-F263-9162-72DC-A285A97757D3}"/>
              </a:ext>
            </a:extLst>
          </p:cNvPr>
          <p:cNvSpPr/>
          <p:nvPr/>
        </p:nvSpPr>
        <p:spPr>
          <a:xfrm>
            <a:off x="0" y="196644"/>
            <a:ext cx="108155" cy="6496764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3BBC2AF9-C1FB-8515-308A-3A7A6E47947D}"/>
              </a:ext>
            </a:extLst>
          </p:cNvPr>
          <p:cNvSpPr/>
          <p:nvPr/>
        </p:nvSpPr>
        <p:spPr>
          <a:xfrm>
            <a:off x="670559" y="1427547"/>
            <a:ext cx="11019995" cy="45719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EA800B-1DDB-E454-1546-D2CA4E6D5F90}"/>
              </a:ext>
            </a:extLst>
          </p:cNvPr>
          <p:cNvSpPr txBox="1"/>
          <p:nvPr/>
        </p:nvSpPr>
        <p:spPr>
          <a:xfrm>
            <a:off x="4522838" y="3091083"/>
            <a:ext cx="42868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THANKYOU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4710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745</Words>
  <Application>Microsoft Office PowerPoint</Application>
  <PresentationFormat>Widescreen</PresentationFormat>
  <Paragraphs>116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Courier New</vt:lpstr>
      <vt:lpstr>Times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Muthupriya R</dc:creator>
  <cp:lastModifiedBy>Muthupriya R</cp:lastModifiedBy>
  <cp:revision>6</cp:revision>
  <dcterms:created xsi:type="dcterms:W3CDTF">2026-07-25T02:59:34Z</dcterms:created>
  <dcterms:modified xsi:type="dcterms:W3CDTF">2026-07-25T05:09:14Z</dcterms:modified>
</cp:coreProperties>
</file>